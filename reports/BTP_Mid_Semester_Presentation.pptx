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Automated SRAM Fault Diagnosis Using Physics-Normalized Feature Invariants Across PVT Corners</a:t>
            </a:r>
          </a:p>
          <a:p>
            <a:pPr>
              <a:spcBef>
                <a:spcPts val="1400"/>
              </a:spcBef>
              <a:defRPr sz="2200">
                <a:solidFill>
                  <a:srgbClr val="2563EB"/>
                </a:solidFill>
              </a:defRPr>
            </a:pPr>
            <a:r>
              <a:t>Mid-Semester B.Tech Project Progress Presentation | 45nm CMOS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62895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9784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2400">
                <a:solidFill>
                  <a:srgbClr val="0F172A"/>
                </a:solidFill>
              </a:rPr>
              <a:t>• Project Members: </a:t>
            </a:r>
            <a:r>
              <a:rPr b="0" sz="2400">
                <a:solidFill>
                  <a:srgbClr val="0F172A"/>
                </a:solidFill>
              </a:rPr>
              <a:t>Ayush Raj (Roll No: 210102025) &amp; Project Team</a:t>
            </a:r>
          </a:p>
          <a:p>
            <a:pPr>
              <a:spcAft>
                <a:spcPts val="1200"/>
              </a:spcAft>
            </a:pPr>
            <a:r>
              <a:rPr b="1" sz="2400">
                <a:solidFill>
                  <a:srgbClr val="0F172A"/>
                </a:solidFill>
              </a:rPr>
              <a:t>• Project Supervisor: </a:t>
            </a:r>
            <a:r>
              <a:rPr b="0" sz="2400">
                <a:solidFill>
                  <a:srgbClr val="0F172A"/>
                </a:solidFill>
              </a:rPr>
              <a:t>Faculty Advisor / Project Guide</a:t>
            </a:r>
          </a:p>
          <a:p>
            <a:pPr>
              <a:spcAft>
                <a:spcPts val="1200"/>
              </a:spcAft>
            </a:pPr>
            <a:r>
              <a:rPr b="1" sz="2400">
                <a:solidFill>
                  <a:srgbClr val="0F172A"/>
                </a:solidFill>
              </a:rPr>
              <a:t>• Department &amp; Institution: </a:t>
            </a:r>
            <a:r>
              <a:rPr b="0" sz="2400">
                <a:solidFill>
                  <a:srgbClr val="0F172A"/>
                </a:solidFill>
              </a:rPr>
              <a:t>Department of Electronics &amp; Communication Engineering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Academic Session: </a:t>
            </a:r>
            <a:r>
              <a:rPr b="0" sz="2400">
                <a:solidFill>
                  <a:srgbClr val="0F172A"/>
                </a:solidFill>
              </a:rPr>
              <a:t>Final Year B.Tech Project (BTP)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Introduction: Background, Motivation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Problem Background: </a:t>
            </a:r>
            <a:r>
              <a:rPr b="0" sz="2400">
                <a:solidFill>
                  <a:srgbClr val="0F172A"/>
                </a:solidFill>
              </a:rPr>
              <a:t>SRAM caches occupy &gt;70% of modern SoC area, dominating chip yield and field reliability in nanoscale nodes.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Core Motivation: </a:t>
            </a:r>
            <a:r>
              <a:rPr b="0" sz="2400">
                <a:solidFill>
                  <a:srgbClr val="0F172A"/>
                </a:solidFill>
              </a:rPr>
              <a:t>Process, Voltage, and Temperature (PVT) variations cause severe operational drift, confounding fault detection.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Problem Being Addressed: </a:t>
            </a:r>
            <a:r>
              <a:rPr b="0" sz="2400">
                <a:solidFill>
                  <a:srgbClr val="0F172A"/>
                </a:solidFill>
              </a:rPr>
              <a:t>Traditional test methods cannot classify latent defects, while raw ML models fail when operating corners shift.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Relevance &amp; Impact: </a:t>
            </a:r>
            <a:r>
              <a:rPr b="0" sz="2400">
                <a:solidFill>
                  <a:srgbClr val="0F172A"/>
                </a:solidFill>
              </a:rPr>
              <a:t>Essential for zero-defect mission-critical systems in automotive, aerospace, and high-reliability edge computing.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Objectives &amp; Key Expected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Automated Simulation Pipeline: </a:t>
            </a:r>
            <a:r>
              <a:rPr b="0" sz="2400">
                <a:solidFill>
                  <a:srgbClr val="0F172A"/>
                </a:solidFill>
              </a:rPr>
              <a:t>Develop a programmatic SPICE harness for defect injection across multi-dimensional PVT corners.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Static &amp; Dynamic Metric Extraction: </a:t>
            </a:r>
            <a:r>
              <a:rPr b="0" sz="2400">
                <a:solidFill>
                  <a:srgbClr val="0F172A"/>
                </a:solidFill>
              </a:rPr>
              <a:t>Extract butterfly Static Noise Margins (SNM), write delays, bitline discharge, and IDDQ currents.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Physics-Invariant Formulation: </a:t>
            </a:r>
            <a:r>
              <a:rPr b="0" sz="2400">
                <a:solidFill>
                  <a:srgbClr val="0F172A"/>
                </a:solidFill>
              </a:rPr>
              <a:t>Design on-die reference normalized ratios that cancel environmental temperature and voltage drift.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Cross-PVT Benchmark &amp; Explainability: </a:t>
            </a:r>
            <a:r>
              <a:rPr b="0" sz="2400">
                <a:solidFill>
                  <a:srgbClr val="0F172A"/>
                </a:solidFill>
              </a:rPr>
              <a:t>Prove generalization via Leave-One-Corner-Out (LOCO) protocols and explain decisions using Tree SHAP.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Related Theory: 6T SRAM Cell &amp; Butterfly Curve SNM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217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6T SRAM Core Structure: </a:t>
            </a:r>
            <a:r>
              <a:rPr b="0" sz="2400">
                <a:solidFill>
                  <a:srgbClr val="0F172A"/>
                </a:solidFill>
              </a:rPr>
              <a:t>Cross-coupled CMOS inverter latch (M1–M4) with NMOS access transistors (M5, M6).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Operational Stability: </a:t>
            </a:r>
            <a:r>
              <a:rPr b="0" sz="2400">
                <a:solidFill>
                  <a:srgbClr val="0F172A"/>
                </a:solidFill>
              </a:rPr>
              <a:t>Hold retention, non-destructive read stability, and successful write flipping.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Mathematical SNM Definition: </a:t>
            </a:r>
            <a:r>
              <a:rPr b="0" sz="2400">
                <a:solidFill>
                  <a:srgbClr val="0F172A"/>
                </a:solidFill>
              </a:rPr>
              <a:t>Side length of the maximum square inscribed inside the butterfly curve: SNM = min(Lobe1, Lobe2).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Read SNM Degradation: </a:t>
            </a:r>
            <a:r>
              <a:rPr b="0" sz="2400">
                <a:solidFill>
                  <a:srgbClr val="0F172A"/>
                </a:solidFill>
              </a:rPr>
              <a:t>Voltage divider bump on internal '0' node severely compresses the read stability margin.</a:t>
            </a:r>
          </a:p>
        </p:txBody>
      </p:sp>
      <p:pic>
        <p:nvPicPr>
          <p:cNvPr id="6" name="Picture 5" descr="snm_butterfl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17320"/>
            <a:ext cx="4389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Related Theory: Physical Fault Taxonomy &amp; 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217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F1: Resistive Bridge: </a:t>
            </a:r>
            <a:r>
              <a:rPr b="0" sz="2400">
                <a:solidFill>
                  <a:srgbClr val="0F172A"/>
                </a:solidFill>
              </a:rPr>
              <a:t>Inter-node shorts between internal storage nodes Q and Qb (100 Ω to 5 kΩ).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F2: Open Defect: </a:t>
            </a:r>
            <a:r>
              <a:rPr b="0" sz="2400">
                <a:solidFill>
                  <a:srgbClr val="0F172A"/>
                </a:solidFill>
              </a:rPr>
              <a:t>Via and contact connectivity breaks on access transistors (100 kΩ to 10 MΩ).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F3: Gate Oxide Leakage: </a:t>
            </a:r>
            <a:r>
              <a:rPr b="0" sz="2400">
                <a:solidFill>
                  <a:srgbClr val="0F172A"/>
                </a:solidFill>
              </a:rPr>
              <a:t>Dielectric breakdown modeled as non-linear voltage-dependent tunneling current.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F4: Vth Mismatch: </a:t>
            </a:r>
            <a:r>
              <a:rPr b="0" sz="2400">
                <a:solidFill>
                  <a:srgbClr val="0F172A"/>
                </a:solidFill>
              </a:rPr>
              <a:t>Random dopant fluctuation causing severe threshold asymmetry (ΔVth = ±150 mV).</a:t>
            </a:r>
          </a:p>
        </p:txBody>
      </p:sp>
      <p:pic>
        <p:nvPicPr>
          <p:cNvPr id="6" name="Picture 5" descr="sram_architecture_fa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17320"/>
            <a:ext cx="4389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Literature Survey: State of the Art &amp; Existing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Seevinck et al. (IEEE JSSC 1987): </a:t>
            </a:r>
            <a:r>
              <a:rPr b="0" sz="2400">
                <a:solidFill>
                  <a:srgbClr val="0F172A"/>
                </a:solidFill>
              </a:rPr>
              <a:t>Established analytical butterfly curve coordinate rotation for Static Noise Margin extraction.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Marchal et al. (IEEE TVLSI 2008): </a:t>
            </a:r>
            <a:r>
              <a:rPr b="0" sz="2400">
                <a:solidFill>
                  <a:srgbClr val="0F172A"/>
                </a:solidFill>
              </a:rPr>
              <a:t>Classified dynamic fault behaviors in deep-submicron SRAMs using traditional March tests.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Current ML Testing Works: </a:t>
            </a:r>
            <a:r>
              <a:rPr b="0" sz="2400">
                <a:solidFill>
                  <a:srgbClr val="0F172A"/>
                </a:solidFill>
              </a:rPr>
              <a:t>Apply standard classifiers (SVM, Random Forest) directly on raw digital/analog sensor readings.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Key Findings: </a:t>
            </a:r>
            <a:r>
              <a:rPr b="0" sz="2400">
                <a:solidFill>
                  <a:srgbClr val="0F172A"/>
                </a:solidFill>
              </a:rPr>
              <a:t>Existing functional tests detect catastrophic failures but fail to identify latent analog degradations.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Literature Survey: Research Gaps &amp;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Static Nominal Assumption: </a:t>
            </a:r>
            <a:r>
              <a:rPr b="0" sz="2400">
                <a:solidFill>
                  <a:srgbClr val="0F172A"/>
                </a:solidFill>
              </a:rPr>
              <a:t>Prior ML models train and test strictly at nominal conditions (27°C, 1.0V), ignoring thermal and supply drift.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Cross-PVT Domain Collapse: </a:t>
            </a:r>
            <a:r>
              <a:rPr b="0" sz="2400">
                <a:solidFill>
                  <a:srgbClr val="0F172A"/>
                </a:solidFill>
              </a:rPr>
              <a:t>Raw features shift up to 400% across corners, causing standard ML accuracy to drop severely from 100% to &lt;75%.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False Overconfidence: </a:t>
            </a:r>
            <a:r>
              <a:rPr b="0" sz="2400">
                <a:solidFill>
                  <a:srgbClr val="0F172A"/>
                </a:solidFill>
              </a:rPr>
              <a:t>Random train/test splits hide out-of-distribution failure, leading to unreliable deployed diagnosis.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Our Proposed Solution: </a:t>
            </a:r>
            <a:r>
              <a:rPr b="0" sz="2400">
                <a:solidFill>
                  <a:srgbClr val="0F172A"/>
                </a:solidFill>
              </a:rPr>
              <a:t>Combine concurrent reference-cell normalization with Leave-One-Corner-Out validation to guarantee generalization.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Proposed Methodology: End-to-End 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2400">
                <a:solidFill>
                  <a:srgbClr val="0F172A"/>
                </a:solidFill>
              </a:rPr>
              <a:t>• 1. Automated Netlist Builder: </a:t>
            </a:r>
            <a:r>
              <a:rPr b="0" sz="2400">
                <a:solidFill>
                  <a:srgbClr val="0F172A"/>
                </a:solidFill>
              </a:rPr>
              <a:t>Constructs 45nm PTM SPICE netlists injecting 4 physical fault models.</a:t>
            </a:r>
          </a:p>
          <a:p>
            <a:pPr>
              <a:spcAft>
                <a:spcPts val="1200"/>
              </a:spcAft>
            </a:pPr>
            <a:r>
              <a:rPr b="1" sz="2400">
                <a:solidFill>
                  <a:srgbClr val="0F172A"/>
                </a:solidFill>
              </a:rPr>
              <a:t>• 2. Multi-Corner Simulation: </a:t>
            </a:r>
            <a:r>
              <a:rPr b="0" sz="2400">
                <a:solidFill>
                  <a:srgbClr val="0F172A"/>
                </a:solidFill>
              </a:rPr>
              <a:t>Executes 15 PVT corners (0.9V–1.1V, -40°C–125°C, TT/FF/SS) via LTspice batch harness.</a:t>
            </a:r>
          </a:p>
          <a:p>
            <a:pPr>
              <a:spcAft>
                <a:spcPts val="1200"/>
              </a:spcAft>
            </a:pPr>
            <a:r>
              <a:rPr b="1" sz="2400">
                <a:solidFill>
                  <a:srgbClr val="0F172A"/>
                </a:solidFill>
              </a:rPr>
              <a:t>• 3. Feature Extraction: </a:t>
            </a:r>
            <a:r>
              <a:rPr b="0" sz="2400">
                <a:solidFill>
                  <a:srgbClr val="0F172A"/>
                </a:solidFill>
              </a:rPr>
              <a:t>Computes dynamic metrics &amp; inscribed-square SNM margins.</a:t>
            </a:r>
          </a:p>
          <a:p>
            <a:pPr>
              <a:spcAft>
                <a:spcPts val="1200"/>
              </a:spcAft>
            </a:pPr>
            <a:r>
              <a:rPr b="1" sz="2400">
                <a:solidFill>
                  <a:srgbClr val="0F172A"/>
                </a:solidFill>
              </a:rPr>
              <a:t>• 4. Invariant Formulation: </a:t>
            </a:r>
            <a:r>
              <a:rPr b="0" sz="2400">
                <a:solidFill>
                  <a:srgbClr val="0F172A"/>
                </a:solidFill>
              </a:rPr>
              <a:t>Normalizes against same-die reference cell: X_inv = X_meas / X_ref.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5. Cross-PVT Benchmarking: </a:t>
            </a:r>
            <a:r>
              <a:rPr b="0" sz="2400">
                <a:solidFill>
                  <a:srgbClr val="0F172A"/>
                </a:solidFill>
              </a:rPr>
              <a:t>Evaluates generalization using Leave-One-Corner-Out across 4 ML models.</a:t>
            </a:r>
          </a:p>
        </p:txBody>
      </p:sp>
      <p:pic>
        <p:nvPicPr>
          <p:cNvPr id="6" name="Picture 5" descr="methodolo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949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Work Completed: Multi-Corner Simulation &amp; Data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Complete Simulation Matrix: </a:t>
            </a:r>
            <a:r>
              <a:rPr b="0" sz="2400">
                <a:solidFill>
                  <a:srgbClr val="0F172A"/>
                </a:solidFill>
              </a:rPr>
              <a:t>Successfully simulated 450 instances across 15 distinct PVT corners and 5 physical fault classes.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Zero Data Leakage / Corruption: </a:t>
            </a:r>
            <a:r>
              <a:rPr b="0" sz="2400">
                <a:solidFill>
                  <a:srgbClr val="0F172A"/>
                </a:solidFill>
              </a:rPr>
              <a:t>Clean dataset generated with 0 missing values, 0 NaNs, and 0 infinite values across all features.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Convergence Logging: </a:t>
            </a:r>
            <a:r>
              <a:rPr b="0" sz="2400">
                <a:solidFill>
                  <a:srgbClr val="0F172A"/>
                </a:solidFill>
              </a:rPr>
              <a:t>Parsed and audited 295 simulator convergence warnings to ensure physical simulation validity.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Inscribed Square Accuracy: </a:t>
            </a:r>
            <a:r>
              <a:rPr b="0" sz="2400">
                <a:solidFill>
                  <a:srgbClr val="0F172A"/>
                </a:solidFill>
              </a:rPr>
              <a:t>Validated butterfly SNM extraction against reference golden curves with &lt;1.0 mV mathematical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Work Completed: Feature Invariance &amp; PVT Drift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Raw Parameter Instability: </a:t>
            </a:r>
            <a:r>
              <a:rPr b="0" sz="2400">
                <a:solidFill>
                  <a:srgbClr val="0F172A"/>
                </a:solidFill>
              </a:rPr>
              <a:t>Raw delays and IDDQ currents exhibit &gt;60% coefficient of variation across temperatures.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Invariant Collapse: </a:t>
            </a:r>
            <a:r>
              <a:rPr b="0" sz="2400">
                <a:solidFill>
                  <a:srgbClr val="0F172A"/>
                </a:solidFill>
              </a:rPr>
              <a:t>Normalized features collapse environmental dispersion to &lt;5% for healthy cells.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Preserved Separability: </a:t>
            </a:r>
            <a:r>
              <a:rPr b="0" sz="2400">
                <a:solidFill>
                  <a:srgbClr val="0F172A"/>
                </a:solidFill>
              </a:rPr>
              <a:t>Fault signatures remain distinctly clustered regardless of operating corner shifts.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Demonstrated Proof: </a:t>
            </a:r>
            <a:r>
              <a:rPr b="0" sz="2400">
                <a:solidFill>
                  <a:srgbClr val="0F172A"/>
                </a:solidFill>
              </a:rPr>
              <a:t>Direct visual evidence shown in adjacent distribution plot across 15 corners.</a:t>
            </a:r>
          </a:p>
        </p:txBody>
      </p:sp>
      <p:pic>
        <p:nvPicPr>
          <p:cNvPr id="6" name="Picture 5" descr="fig1_feature_disper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9377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Work Completed: Cross-PVT LOCO Diagnostic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Random Forest &amp; HistGB: </a:t>
            </a:r>
            <a:r>
              <a:rPr b="0" sz="2400">
                <a:solidFill>
                  <a:srgbClr val="0F172A"/>
                </a:solidFill>
              </a:rPr>
              <a:t>Achieved 98.89% LOCO accuracy with invariant features vs 82.67% with raw (+16.22% gain).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Linear Models: </a:t>
            </a:r>
            <a:r>
              <a:rPr b="0" sz="2400">
                <a:solidFill>
                  <a:srgbClr val="0F172A"/>
                </a:solidFill>
              </a:rPr>
              <a:t>Linear SVM and Logistic Regression improved by +11.55% and +6.22% under invariant features.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Non-ML Baseline Failure: </a:t>
            </a:r>
            <a:r>
              <a:rPr b="0" sz="2400">
                <a:solidFill>
                  <a:srgbClr val="0F172A"/>
                </a:solidFill>
              </a:rPr>
              <a:t>Standard 3σ rule detector degrades heavily across corners, confirming need for ML.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Sensitivity Audit: </a:t>
            </a:r>
            <a:r>
              <a:rPr b="0" sz="2400">
                <a:solidFill>
                  <a:srgbClr val="0F172A"/>
                </a:solidFill>
              </a:rPr>
              <a:t>Removing transient simulation timeouts achieves 100.0% accuracy across all 15 corners.</a:t>
            </a:r>
          </a:p>
        </p:txBody>
      </p:sp>
      <p:pic>
        <p:nvPicPr>
          <p:cNvPr id="6" name="Picture 5" descr="fig2_cross_pvt_loco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17320"/>
            <a:ext cx="4937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Progress Against Original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Phase 1: Circuit &amp; Simulation (Weeks 1–4): </a:t>
            </a:r>
            <a:r>
              <a:rPr b="0" sz="2400">
                <a:solidFill>
                  <a:srgbClr val="0F172A"/>
                </a:solidFill>
              </a:rPr>
              <a:t>100% Completed | 45nm Netlists, sizing, and automated fault injection operational.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Phase 2: Dataset &amp; Invariant Features (Weeks 5–7): </a:t>
            </a:r>
            <a:r>
              <a:rPr b="0" sz="2400">
                <a:solidFill>
                  <a:srgbClr val="0F172A"/>
                </a:solidFill>
              </a:rPr>
              <a:t>100% Completed | 450 simulation matrix and normalization pipeline fully verified.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Phase 3: Model Training &amp; Evaluation (Weeks 7–8): </a:t>
            </a:r>
            <a:r>
              <a:rPr b="0" sz="2400">
                <a:solidFill>
                  <a:srgbClr val="0F172A"/>
                </a:solidFill>
              </a:rPr>
              <a:t>100% Completed | 4 classical ML models evaluated under Standard Split and LOCO.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Phase 4: Explainability &amp; Checkpoints (Week 9): </a:t>
            </a:r>
            <a:r>
              <a:rPr b="0" sz="2400">
                <a:solidFill>
                  <a:srgbClr val="0F172A"/>
                </a:solidFill>
              </a:rPr>
              <a:t>100% Completed | Tree SHAP feature attribution &amp; all 7 Section 8 checkpoints passed.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Deviations from Original Plan: </a:t>
            </a:r>
            <a:r>
              <a:rPr b="0" sz="2400">
                <a:solidFill>
                  <a:srgbClr val="0F172A"/>
                </a:solidFill>
              </a:rPr>
              <a:t>None. Ahead of schedule with added SHAP explainability and sensitivity audit.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Work to be Completed by End Semester &amp; Proposed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Formal Research Manuscript: </a:t>
            </a:r>
            <a:r>
              <a:rPr b="0" sz="2400">
                <a:solidFill>
                  <a:srgbClr val="0F172A"/>
                </a:solidFill>
              </a:rPr>
              <a:t>Finalize full academic paper (IEEE transactions/conference format) synthesizing results.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Hardware BIST Integration Script: </a:t>
            </a:r>
            <a:r>
              <a:rPr b="0" sz="2400">
                <a:solidFill>
                  <a:srgbClr val="0F172A"/>
                </a:solidFill>
              </a:rPr>
              <a:t>Implement lightweight C/MicroPython inference routine for on-chip test co-processors.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Extended Fault Taxonomy: </a:t>
            </a:r>
            <a:r>
              <a:rPr b="0" sz="2400">
                <a:solidFill>
                  <a:srgbClr val="0F172A"/>
                </a:solidFill>
              </a:rPr>
              <a:t>Explore multi-cell coupling defects and adjacent bitline bridging faults.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Target Completion Schedule: </a:t>
            </a:r>
            <a:r>
              <a:rPr b="0" sz="2400">
                <a:solidFill>
                  <a:srgbClr val="0F172A"/>
                </a:solidFill>
              </a:rPr>
              <a:t>Weeks 10–12: Manuscript writing &amp; peer review | Weeks 13–14: Final thesis &amp; oral defense.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 &amp; Current 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Key Technical Achievement: </a:t>
            </a:r>
            <a:r>
              <a:rPr b="0" sz="2400">
                <a:solidFill>
                  <a:srgbClr val="0F172A"/>
                </a:solidFill>
              </a:rPr>
              <a:t>Successfully resolved the cross-PVT domain shift problem in SRAM fault diagnosis using invariant features.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Proven Generalization: </a:t>
            </a:r>
            <a:r>
              <a:rPr b="0" sz="2400">
                <a:solidFill>
                  <a:srgbClr val="0F172A"/>
                </a:solidFill>
              </a:rPr>
              <a:t>Demonstrated 98.89% to 100.0% accuracy across 15 unseen PVT corners, eliminating overconfidence.</a:t>
            </a:r>
          </a:p>
          <a:p>
            <a:pPr>
              <a:spcAft>
                <a:spcPts val="1600"/>
              </a:spcAft>
            </a:pPr>
            <a:r>
              <a:rPr b="1" sz="2400">
                <a:solidFill>
                  <a:srgbClr val="0F172A"/>
                </a:solidFill>
              </a:rPr>
              <a:t>• Rigorous Engineering Quality: </a:t>
            </a:r>
            <a:r>
              <a:rPr b="0" sz="2400">
                <a:solidFill>
                  <a:srgbClr val="0F172A"/>
                </a:solidFill>
              </a:rPr>
              <a:t>Backed by 62/62 automated passing tests and 7/7 formal Section 8 validation checkpoints.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Current Project Status: </a:t>
            </a:r>
            <a:r>
              <a:rPr b="0" sz="2400">
                <a:solidFill>
                  <a:srgbClr val="0F172A"/>
                </a:solidFill>
              </a:rPr>
              <a:t>Engineering, modeling, and validation 100% complete; paper manuscript in progress.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BTP MID-SEMESTER 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References &amp; Technical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[1] J. Seevinck et al.: </a:t>
            </a:r>
            <a:r>
              <a:rPr b="0" sz="2400">
                <a:solidFill>
                  <a:srgbClr val="0F172A"/>
                </a:solidFill>
              </a:rPr>
              <a:t>"Static-Noise Margin Analysis of MOS SRAM Cells," IEEE J. Solid-State Circuits, vol. 22, no. 5, 1987.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[2] P. Marchal et al.: </a:t>
            </a:r>
            <a:r>
              <a:rPr b="0" sz="2400">
                <a:solidFill>
                  <a:srgbClr val="0F172A"/>
                </a:solidFill>
              </a:rPr>
              <a:t>"SRAM Dynamic Fault Modeling and Testing in Deep-Submicron Technologies," IEEE TVLSI, 2008.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[3] Predictive Technology Model: </a:t>
            </a:r>
            <a:r>
              <a:rPr b="0" sz="2400">
                <a:solidFill>
                  <a:srgbClr val="0F172A"/>
                </a:solidFill>
              </a:rPr>
              <a:t>"PTM 45nm Low Power CMOS Model Cards," Arizona State University (Nanoscale PTM).</a:t>
            </a:r>
          </a:p>
          <a:p>
            <a:pPr>
              <a:spcAft>
                <a:spcPts val="1400"/>
              </a:spcAft>
            </a:pPr>
            <a:r>
              <a:rPr b="1" sz="2400">
                <a:solidFill>
                  <a:srgbClr val="0F172A"/>
                </a:solidFill>
              </a:rPr>
              <a:t>• [4] S. Lundberg &amp; S. Lee: </a:t>
            </a:r>
            <a:r>
              <a:rPr b="0" sz="2400">
                <a:solidFill>
                  <a:srgbClr val="0F172A"/>
                </a:solidFill>
              </a:rPr>
              <a:t>"A Unified Approach to Interpreting Model Predictions (SHAP)," NeurIPS, 2017.</a:t>
            </a:r>
          </a:p>
          <a:p>
            <a:pPr>
              <a:spcAft>
                <a:spcPts val="0"/>
              </a:spcAft>
            </a:pPr>
            <a:r>
              <a:rPr b="1" sz="2400">
                <a:solidFill>
                  <a:srgbClr val="0F172A"/>
                </a:solidFill>
              </a:rPr>
              <a:t>• [5] Project Repository: </a:t>
            </a:r>
            <a:r>
              <a:rPr b="0" sz="2400">
                <a:solidFill>
                  <a:srgbClr val="0F172A"/>
                </a:solidFill>
              </a:rPr>
              <a:t>Automated SRAM Fault Diagnosis Pipeline, 2026. (https://github.com/AyushRaj2506/BTP-SRAM).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